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3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3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3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3"/>
          <p:cNvCxnSpPr/>
          <p:nvPr/>
        </p:nvCxnSpPr>
        <p:spPr>
          <a:xfrm>
            <a:off x="0" y="4754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3"/>
          <p:cNvCxnSpPr/>
          <p:nvPr/>
        </p:nvCxnSpPr>
        <p:spPr>
          <a:xfrm>
            <a:off x="0" y="950976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3"/>
          <p:cNvCxnSpPr/>
          <p:nvPr/>
        </p:nvCxnSpPr>
        <p:spPr>
          <a:xfrm>
            <a:off x="0" y="142646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3"/>
          <p:cNvCxnSpPr/>
          <p:nvPr/>
        </p:nvCxnSpPr>
        <p:spPr>
          <a:xfrm>
            <a:off x="0" y="1901952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3"/>
          <p:cNvCxnSpPr/>
          <p:nvPr/>
        </p:nvCxnSpPr>
        <p:spPr>
          <a:xfrm>
            <a:off x="0" y="23774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3"/>
          <p:cNvCxnSpPr/>
          <p:nvPr/>
        </p:nvCxnSpPr>
        <p:spPr>
          <a:xfrm>
            <a:off x="0" y="285292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3"/>
          <p:cNvCxnSpPr/>
          <p:nvPr/>
        </p:nvCxnSpPr>
        <p:spPr>
          <a:xfrm>
            <a:off x="0" y="3328416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3"/>
          <p:cNvCxnSpPr/>
          <p:nvPr/>
        </p:nvCxnSpPr>
        <p:spPr>
          <a:xfrm>
            <a:off x="0" y="380390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3"/>
          <p:cNvCxnSpPr/>
          <p:nvPr/>
        </p:nvCxnSpPr>
        <p:spPr>
          <a:xfrm>
            <a:off x="0" y="4279392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3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3"/>
          <p:cNvCxnSpPr/>
          <p:nvPr/>
        </p:nvCxnSpPr>
        <p:spPr>
          <a:xfrm>
            <a:off x="0" y="523036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39D353">
              <a:alpha val="7058"/>
            </a:srgbClr>
          </a:solidFill>
          <a:ln cap="flat" cmpd="sng" w="12700">
            <a:solidFill>
              <a:srgbClr val="39D353">
                <a:alpha val="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39D353">
              <a:alpha val="10196"/>
            </a:srgbClr>
          </a:solidFill>
          <a:ln cap="flat" cmpd="sng" w="12700">
            <a:solidFill>
              <a:srgbClr val="39D353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57200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84F58"/>
                </a:solidFill>
                <a:latin typeface="Courier New"/>
                <a:ea typeface="Courier New"/>
                <a:cs typeface="Courier New"/>
                <a:sym typeface="Courier New"/>
              </a:rPr>
              <a:t>$ ./run_tests.sh --target automationexercise.com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D2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4D25"/>
                </a:solidFill>
                <a:latin typeface="Courier New"/>
                <a:ea typeface="Courier New"/>
                <a:cs typeface="Courier New"/>
                <a:sym typeface="Courier New"/>
              </a:rPr>
              <a:t>[✓] Environment ready   [✓] WebDriver loaded   [✓] Test suite compiled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65760" y="100584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600"/>
              <a:buFont typeface="Courier New"/>
              <a:buNone/>
            </a:pPr>
            <a:r>
              <a:rPr b="1" i="0" lang="en-US" sz="96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QA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5760" y="2176272"/>
            <a:ext cx="50292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5200"/>
              <a:buFont typeface="Courier New"/>
              <a:buNone/>
            </a:pPr>
            <a:r>
              <a:rPr b="1" i="0" lang="en-US" sz="520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AUTOMATION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65760" y="299923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800"/>
              <a:buFont typeface="Courier New"/>
              <a:buNone/>
            </a:pPr>
            <a:r>
              <a:rPr b="0" i="0" lang="en-US" sz="28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TESTING PROJECT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0" y="1051560"/>
            <a:ext cx="3383280" cy="32004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577840" y="1143000"/>
            <a:ext cx="118872" cy="11887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779008" y="1143000"/>
            <a:ext cx="118872" cy="11887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980176" y="1143000"/>
            <a:ext cx="118872" cy="118872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577840" y="108813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mission_brief.txt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596128" y="1417320"/>
            <a:ext cx="316382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Automation Exercise</a:t>
            </a: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E-Commerce QA Suite</a:t>
            </a: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0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Selenium + Java + TestNG</a:t>
            </a: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Chrome 148 · Windows 10/11</a:t>
            </a: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05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Ahmad · Basil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Hamza · Mohammed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QA AUTOMATION BOOTCAMP  ·  automationexercise.com  ·  </a:t>
            </a:r>
            <a:r>
              <a:rPr b="1" lang="en-US" sz="10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r>
              <a:rPr b="1" i="0" lang="en-US" sz="1000" u="none" cap="none" strike="noStrike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 TEST CASES  ·  4 MODULES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20040" y="2743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01 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143000" y="2743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20040" y="77724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20040" y="2176272"/>
            <a:ext cx="45720" cy="228600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57200" y="22128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23774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automationexercise.com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2670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28346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Functional + UI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31272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APPROACH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32918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Automation (Selenium/Java)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35844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PATTERN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37490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Page Object Model (POM)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40416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BROWSER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42062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Chrome 148 · Windows 10-1</a:t>
            </a:r>
            <a:r>
              <a:rPr lang="en-US" sz="11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663440" y="3200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EE787"/>
                </a:solidFill>
                <a:latin typeface="Courier New"/>
                <a:ea typeface="Courier New"/>
                <a:cs typeface="Courier New"/>
                <a:sym typeface="Courier New"/>
              </a:rPr>
              <a:t>IN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663440" y="758952"/>
            <a:ext cx="164592" cy="164592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956048" y="7132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Authentication </a:t>
            </a:r>
            <a:r>
              <a:rPr lang="en-US" sz="12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663440" y="1170432"/>
            <a:ext cx="164592" cy="164592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956048" y="11247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Product Discovery &amp;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663440" y="1581912"/>
            <a:ext cx="164592" cy="164592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956048" y="153619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Cart State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63440" y="1993392"/>
            <a:ext cx="164592" cy="164592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956048" y="19476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Checkout &amp; Payment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63440" y="2404872"/>
            <a:ext cx="164592" cy="164592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956048" y="235915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UI Layout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663440" y="2816352"/>
            <a:ext cx="164592" cy="164592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956048" y="27706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Contact Form &amp; File Upload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4663440" y="324612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4663440" y="34015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OUT OF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4663440" y="3895344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4"/>
          <p:cNvCxnSpPr/>
          <p:nvPr/>
        </p:nvCxnSpPr>
        <p:spPr>
          <a:xfrm>
            <a:off x="4663440" y="3822192"/>
            <a:ext cx="164592" cy="164592"/>
          </a:xfrm>
          <a:prstGeom prst="straightConnector1">
            <a:avLst/>
          </a:prstGeom>
          <a:noFill/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4"/>
          <p:cNvSpPr/>
          <p:nvPr/>
        </p:nvSpPr>
        <p:spPr>
          <a:xfrm>
            <a:off x="4956048" y="376732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Real Payment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4663440" y="4279392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4"/>
          <p:cNvCxnSpPr/>
          <p:nvPr/>
        </p:nvCxnSpPr>
        <p:spPr>
          <a:xfrm>
            <a:off x="4663440" y="4206240"/>
            <a:ext cx="164592" cy="164592"/>
          </a:xfrm>
          <a:prstGeom prst="straightConnector1">
            <a:avLst/>
          </a:prstGeom>
          <a:noFill/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/>
          <p:nvPr/>
        </p:nvSpPr>
        <p:spPr>
          <a:xfrm>
            <a:off x="4956048" y="415137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Backend Performance / Load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389120" y="0"/>
            <a:ext cx="36576" cy="514350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5"/>
          <p:cNvCxnSpPr/>
          <p:nvPr/>
        </p:nvCxnSpPr>
        <p:spPr>
          <a:xfrm>
            <a:off x="438912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5"/>
          <p:cNvCxnSpPr/>
          <p:nvPr/>
        </p:nvCxnSpPr>
        <p:spPr>
          <a:xfrm>
            <a:off x="877824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5"/>
          <p:cNvCxnSpPr/>
          <p:nvPr/>
        </p:nvCxnSpPr>
        <p:spPr>
          <a:xfrm>
            <a:off x="1316736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5"/>
          <p:cNvCxnSpPr/>
          <p:nvPr/>
        </p:nvCxnSpPr>
        <p:spPr>
          <a:xfrm>
            <a:off x="1755648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5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5"/>
          <p:cNvCxnSpPr/>
          <p:nvPr/>
        </p:nvCxnSpPr>
        <p:spPr>
          <a:xfrm>
            <a:off x="2633472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5"/>
          <p:cNvCxnSpPr/>
          <p:nvPr/>
        </p:nvCxnSpPr>
        <p:spPr>
          <a:xfrm>
            <a:off x="3072384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5"/>
          <p:cNvCxnSpPr/>
          <p:nvPr/>
        </p:nvCxnSpPr>
        <p:spPr>
          <a:xfrm>
            <a:off x="3511296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5"/>
          <p:cNvCxnSpPr/>
          <p:nvPr/>
        </p:nvCxnSpPr>
        <p:spPr>
          <a:xfrm>
            <a:off x="3950208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5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5"/>
          <p:cNvCxnSpPr/>
          <p:nvPr/>
        </p:nvCxnSpPr>
        <p:spPr>
          <a:xfrm>
            <a:off x="4828032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5"/>
          <p:cNvCxnSpPr/>
          <p:nvPr/>
        </p:nvCxnSpPr>
        <p:spPr>
          <a:xfrm>
            <a:off x="5266944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5"/>
          <p:cNvCxnSpPr/>
          <p:nvPr/>
        </p:nvCxnSpPr>
        <p:spPr>
          <a:xfrm>
            <a:off x="5705856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5"/>
          <p:cNvCxnSpPr/>
          <p:nvPr/>
        </p:nvCxnSpPr>
        <p:spPr>
          <a:xfrm>
            <a:off x="6144768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5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5"/>
          <p:cNvCxnSpPr/>
          <p:nvPr/>
        </p:nvCxnSpPr>
        <p:spPr>
          <a:xfrm>
            <a:off x="7022592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5"/>
          <p:cNvCxnSpPr/>
          <p:nvPr/>
        </p:nvCxnSpPr>
        <p:spPr>
          <a:xfrm>
            <a:off x="7461504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5"/>
          <p:cNvCxnSpPr/>
          <p:nvPr/>
        </p:nvCxnSpPr>
        <p:spPr>
          <a:xfrm>
            <a:off x="7900416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5"/>
          <p:cNvCxnSpPr/>
          <p:nvPr/>
        </p:nvCxnSpPr>
        <p:spPr>
          <a:xfrm>
            <a:off x="8339328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5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/>
          <p:nvPr/>
        </p:nvCxnSpPr>
        <p:spPr>
          <a:xfrm>
            <a:off x="9217152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71C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36576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02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05156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TEAM &amp; MODULE OWNERSHIP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28600" y="1261872"/>
            <a:ext cx="201168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228600" y="1261872"/>
            <a:ext cx="2011680" cy="457200"/>
          </a:xfrm>
          <a:prstGeom prst="rect">
            <a:avLst/>
          </a:prstGeom>
          <a:solidFill>
            <a:srgbClr val="58A6FF">
              <a:alpha val="20000"/>
            </a:srgbClr>
          </a:solidFill>
          <a:ln cap="flat" cmpd="sng" w="12700">
            <a:solidFill>
              <a:srgbClr val="58A6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228600" y="12618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Module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77240" y="1810512"/>
            <a:ext cx="914400" cy="914400"/>
          </a:xfrm>
          <a:prstGeom prst="rect">
            <a:avLst/>
          </a:prstGeom>
          <a:solidFill>
            <a:srgbClr val="58A6FF">
              <a:alpha val="12156"/>
            </a:srgbClr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9202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228600" y="28346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AHMAD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28600" y="321868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5"/>
          <p:cNvCxnSpPr/>
          <p:nvPr/>
        </p:nvCxnSpPr>
        <p:spPr>
          <a:xfrm>
            <a:off x="411480" y="3794760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228600" y="38404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i="0" lang="en-US" sz="13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 TEST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28600" y="4206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Login Flows  ·  Session Mgmt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423160" y="1261872"/>
            <a:ext cx="201168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423160" y="1261872"/>
            <a:ext cx="2011680" cy="457200"/>
          </a:xfrm>
          <a:prstGeom prst="rect">
            <a:avLst/>
          </a:prstGeom>
          <a:solidFill>
            <a:srgbClr val="BC8CFF">
              <a:alpha val="20000"/>
            </a:srgbClr>
          </a:solidFill>
          <a:ln cap="flat" cmpd="sng" w="12700">
            <a:solidFill>
              <a:srgbClr val="BC8C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423160" y="12618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Module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971800" y="1810512"/>
            <a:ext cx="914400" cy="914400"/>
          </a:xfrm>
          <a:prstGeom prst="rect">
            <a:avLst/>
          </a:prstGeom>
          <a:solidFill>
            <a:srgbClr val="BC8CFF">
              <a:alpha val="12156"/>
            </a:srgbClr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1528" y="19202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2423160" y="28346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BASIL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423160" y="321868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Navigation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2606040" y="3794760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5"/>
          <p:cNvSpPr/>
          <p:nvPr/>
        </p:nvSpPr>
        <p:spPr>
          <a:xfrm>
            <a:off x="2423160" y="38404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i="0" lang="en-US" sz="13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 TEST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423160" y="4206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Search Engine  ·  Category 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617720" y="1261872"/>
            <a:ext cx="201168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617720" y="1261872"/>
            <a:ext cx="2011680" cy="457200"/>
          </a:xfrm>
          <a:prstGeom prst="rect">
            <a:avLst/>
          </a:prstGeom>
          <a:solidFill>
            <a:srgbClr val="FFA657">
              <a:alpha val="20000"/>
            </a:srgbClr>
          </a:solidFill>
          <a:ln cap="flat" cmpd="sng" w="12700">
            <a:solidFill>
              <a:srgbClr val="FFA657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617720" y="12618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Module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166360" y="1810512"/>
            <a:ext cx="914400" cy="914400"/>
          </a:xfrm>
          <a:prstGeom prst="rect">
            <a:avLst/>
          </a:prstGeom>
          <a:solidFill>
            <a:srgbClr val="FFA657">
              <a:alpha val="12156"/>
            </a:srgbClr>
          </a:solidFill>
          <a:ln cap="flat" cmpd="sng" w="1270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6088" y="19202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4617720" y="28346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HAMZA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617720" y="321868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Cart &amp; Commerce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5"/>
          <p:cNvCxnSpPr/>
          <p:nvPr/>
        </p:nvCxnSpPr>
        <p:spPr>
          <a:xfrm>
            <a:off x="4800600" y="3794760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5"/>
          <p:cNvSpPr/>
          <p:nvPr/>
        </p:nvSpPr>
        <p:spPr>
          <a:xfrm>
            <a:off x="4617720" y="38404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i="0" lang="en-US" sz="13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 TEST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617720" y="4206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850"/>
              <a:buFont typeface="Courier New"/>
              <a:buNone/>
            </a:pPr>
            <a:r>
              <a:rPr b="0" i="0" lang="en-US" sz="850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Cart Logic  ·  Subscription</a:t>
            </a:r>
            <a:endParaRPr b="0" i="0" sz="85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812280" y="1261872"/>
            <a:ext cx="2011680" cy="3520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812280" y="1261872"/>
            <a:ext cx="2011680" cy="457200"/>
          </a:xfrm>
          <a:prstGeom prst="rect">
            <a:avLst/>
          </a:prstGeom>
          <a:solidFill>
            <a:srgbClr val="FF7B72">
              <a:alpha val="20000"/>
            </a:srgbClr>
          </a:solidFill>
          <a:ln cap="flat" cmpd="sng" w="12700">
            <a:solidFill>
              <a:srgbClr val="FF7B72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812280" y="12618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Module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360920" y="1810512"/>
            <a:ext cx="914400" cy="914400"/>
          </a:xfrm>
          <a:prstGeom prst="rect">
            <a:avLst/>
          </a:prstGeom>
          <a:solidFill>
            <a:srgbClr val="FF7B72">
              <a:alpha val="12156"/>
            </a:srgbClr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812280" y="28346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MOHAMMED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812280" y="321868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Checkout &amp; UI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6995160" y="3794760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6812280" y="38404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i="0" lang="en-US" sz="13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 TEST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812280" y="4206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Payment Flow  ·  UI Grid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0648" y="1920240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365760" y="731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03 / AUTHENTICATION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583680" y="731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OWNER: AHMAD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65760" y="4114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Covers user registration, login flows, session management, and account deletion.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6"/>
          <p:cNvSpPr/>
          <p:nvPr/>
        </p:nvSpPr>
        <p:spPr>
          <a:xfrm>
            <a:off x="274320" y="1024128"/>
            <a:ext cx="8595360" cy="3886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274320" y="1024128"/>
            <a:ext cx="8595360" cy="32004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65760" y="1115568"/>
            <a:ext cx="118872" cy="11887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566928" y="1115568"/>
            <a:ext cx="118872" cy="11887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768096" y="1115568"/>
            <a:ext cx="118872" cy="118872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365760" y="106070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auth_tests.log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74320" y="1417320"/>
            <a:ext cx="859536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11480" y="1453896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TC-AUTH-001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965960" y="14538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New User Registration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965960" y="172821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Account created · ACCOUNT CREATED! message shown · Navbar updates to show username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315200" y="1572768"/>
            <a:ext cx="1371600" cy="310896"/>
          </a:xfrm>
          <a:prstGeom prst="rect">
            <a:avLst/>
          </a:prstGeom>
          <a:solidFill>
            <a:srgbClr val="39D353">
              <a:alpha val="18039"/>
            </a:srgbClr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7315200" y="157276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POSITIVE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74320" y="2075688"/>
            <a:ext cx="8595360" cy="621792"/>
          </a:xfrm>
          <a:prstGeom prst="rect">
            <a:avLst/>
          </a:prstGeom>
          <a:solidFill>
            <a:srgbClr val="131820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11480" y="2112264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TC-AUTH-002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965960" y="211226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Login with Valid Credentials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965960" y="238658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User logged in successfully · Logged in as [Username] visible in header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315200" y="2231136"/>
            <a:ext cx="1371600" cy="310896"/>
          </a:xfrm>
          <a:prstGeom prst="rect">
            <a:avLst/>
          </a:prstGeom>
          <a:solidFill>
            <a:srgbClr val="39D353">
              <a:alpha val="18039"/>
            </a:srgbClr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7315200" y="223113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POSITIVE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74320" y="2734056"/>
            <a:ext cx="859536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11480" y="277063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TC-AUTH-003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965960" y="277063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Login with Invalid Credentials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965960" y="304495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Expected error displayed: 'Your email or password is incorrect!'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7315200" y="2889504"/>
            <a:ext cx="1371600" cy="310896"/>
          </a:xfrm>
          <a:prstGeom prst="rect">
            <a:avLst/>
          </a:prstGeom>
          <a:solidFill>
            <a:srgbClr val="FFA657">
              <a:alpha val="18039"/>
            </a:srgbClr>
          </a:solidFill>
          <a:ln cap="flat" cmpd="sng" w="1270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7315200" y="288950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NEGATIVE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74320" y="3392424"/>
            <a:ext cx="8595360" cy="621792"/>
          </a:xfrm>
          <a:prstGeom prst="rect">
            <a:avLst/>
          </a:prstGeom>
          <a:solidFill>
            <a:srgbClr val="131820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11480" y="342900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TC-AUTH-004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965960" y="34290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User Logout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965960" y="370332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Session cleared · User redirected to the unauthenticated landing page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315200" y="3547872"/>
            <a:ext cx="1371600" cy="310896"/>
          </a:xfrm>
          <a:prstGeom prst="rect">
            <a:avLst/>
          </a:prstGeom>
          <a:solidFill>
            <a:srgbClr val="39D353">
              <a:alpha val="18039"/>
            </a:srgbClr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7315200" y="354787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POSITIVE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74320" y="4050792"/>
            <a:ext cx="859536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11480" y="40873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TC-AUTH-005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965960" y="408736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Register with Existing Email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965960" y="436168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Expected error displayed: 'Email Address already exist!'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315200" y="4206240"/>
            <a:ext cx="1371600" cy="310896"/>
          </a:xfrm>
          <a:prstGeom prst="rect">
            <a:avLst/>
          </a:prstGeom>
          <a:solidFill>
            <a:srgbClr val="FFA657">
              <a:alpha val="18039"/>
            </a:srgbClr>
          </a:solidFill>
          <a:ln cap="flat" cmpd="sng" w="1270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7315200" y="420624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NEGATIVE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04 / PRODUCTS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7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7"/>
          <p:cNvSpPr/>
          <p:nvPr/>
        </p:nvSpPr>
        <p:spPr>
          <a:xfrm>
            <a:off x="22952" y="548650"/>
            <a:ext cx="8736300" cy="43434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228600" y="566925"/>
            <a:ext cx="8507700" cy="484500"/>
          </a:xfrm>
          <a:prstGeom prst="rect">
            <a:avLst/>
          </a:prstGeom>
          <a:solidFill>
            <a:srgbClr val="BC8CFF">
              <a:alpha val="18039"/>
            </a:srgbClr>
          </a:solidFill>
          <a:ln cap="flat" cmpd="sng" w="12700">
            <a:solidFill>
              <a:srgbClr val="BC8C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2844898" y="562375"/>
            <a:ext cx="327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MODULE 2  ·  BASIL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20061" y="1051550"/>
            <a:ext cx="841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Products &amp; Navigation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7"/>
          <p:cNvCxnSpPr/>
          <p:nvPr/>
        </p:nvCxnSpPr>
        <p:spPr>
          <a:xfrm>
            <a:off x="320061" y="1536185"/>
            <a:ext cx="835800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7"/>
          <p:cNvSpPr/>
          <p:nvPr/>
        </p:nvSpPr>
        <p:spPr>
          <a:xfrm>
            <a:off x="378103" y="1591049"/>
            <a:ext cx="812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TC-PROD-001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78103" y="1783074"/>
            <a:ext cx="8125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All products and i</a:t>
            </a:r>
            <a:r>
              <a:rPr b="1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tem Detail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78103" y="2011675"/>
            <a:ext cx="812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Name, price, stock, brand — all load correctly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7"/>
          <p:cNvCxnSpPr/>
          <p:nvPr/>
        </p:nvCxnSpPr>
        <p:spPr>
          <a:xfrm>
            <a:off x="320061" y="2295141"/>
            <a:ext cx="835800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7"/>
          <p:cNvSpPr/>
          <p:nvPr/>
        </p:nvSpPr>
        <p:spPr>
          <a:xfrm>
            <a:off x="378103" y="2350005"/>
            <a:ext cx="812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TC-PROD-002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78103" y="2542030"/>
            <a:ext cx="8125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Global Text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78103" y="2770632"/>
            <a:ext cx="812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 → SEARCHED PRODUCTS header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7"/>
          <p:cNvCxnSpPr/>
          <p:nvPr/>
        </p:nvCxnSpPr>
        <p:spPr>
          <a:xfrm>
            <a:off x="320061" y="3054097"/>
            <a:ext cx="835800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7"/>
          <p:cNvSpPr/>
          <p:nvPr/>
        </p:nvSpPr>
        <p:spPr>
          <a:xfrm>
            <a:off x="378103" y="3108961"/>
            <a:ext cx="812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TC-PROD-003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78103" y="3300986"/>
            <a:ext cx="8125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Category Traversal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78103" y="3546906"/>
            <a:ext cx="8126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 → Dresses sidebar navigation verified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Tshirts sidebar navigation verified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7"/>
          <p:cNvCxnSpPr/>
          <p:nvPr/>
        </p:nvCxnSpPr>
        <p:spPr>
          <a:xfrm>
            <a:off x="320061" y="3830372"/>
            <a:ext cx="8358000" cy="0"/>
          </a:xfrm>
          <a:prstGeom prst="straightConnector1">
            <a:avLst/>
          </a:prstGeom>
          <a:noFill/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7"/>
          <p:cNvSpPr/>
          <p:nvPr/>
        </p:nvSpPr>
        <p:spPr>
          <a:xfrm>
            <a:off x="378103" y="3902554"/>
            <a:ext cx="812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TC-PROD-004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78103" y="4103238"/>
            <a:ext cx="812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Brand Filtering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78103" y="4340499"/>
            <a:ext cx="8126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Polo / H&amp;M brand pages load with correct heading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400800" y="731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OWNER: </a:t>
            </a:r>
            <a:r>
              <a:rPr lang="en-US" sz="11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Basil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05 / </a:t>
            </a:r>
            <a:r>
              <a:rPr b="1" lang="en-US" sz="1100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CART &amp; CHECKOUT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400800" y="7315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OWNER: </a:t>
            </a:r>
            <a:r>
              <a:rPr lang="en-US" sz="11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Basil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/>
          <p:nvPr/>
        </p:nvSpPr>
        <p:spPr>
          <a:xfrm>
            <a:off x="228600" y="1024128"/>
            <a:ext cx="4206240" cy="1828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228600" y="1024128"/>
            <a:ext cx="54864" cy="182880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65760" y="11155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🛒 TC-</a:t>
            </a:r>
            <a:r>
              <a:rPr b="1" lang="en-US" sz="1000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CART</a:t>
            </a:r>
            <a:r>
              <a:rPr b="1" i="0" lang="en-US" sz="10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-001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246120" y="1133856"/>
            <a:ext cx="1051560" cy="237744"/>
          </a:xfrm>
          <a:prstGeom prst="rect">
            <a:avLst/>
          </a:prstGeom>
          <a:solidFill>
            <a:srgbClr val="58A6FF">
              <a:alpha val="18039"/>
            </a:srgbClr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246120" y="1133856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ourier New"/>
              <a:buNone/>
            </a:pPr>
            <a:r>
              <a:rPr b="1" lang="en-US" sz="900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ADD ITEM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65760" y="143560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Add Product to Cart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65760" y="1801368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Products button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first product to Cart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Continue Shopping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second product to Cart → Verify both products are added and match their details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709160" y="1024128"/>
            <a:ext cx="4206240" cy="1828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709160" y="1024128"/>
            <a:ext cx="54864" cy="182880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846320" y="11155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💳 TC-</a:t>
            </a:r>
            <a:r>
              <a:rPr b="1" lang="en-US"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CART</a:t>
            </a:r>
            <a:r>
              <a:rPr b="1" i="0" lang="en-US" sz="1000" u="none" cap="none" strike="noStrike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-002</a:t>
            </a:r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726680" y="1133856"/>
            <a:ext cx="1051560" cy="237744"/>
          </a:xfrm>
          <a:prstGeom prst="rect">
            <a:avLst/>
          </a:prstGeom>
          <a:solidFill>
            <a:srgbClr val="39D353">
              <a:alpha val="18039"/>
            </a:srgbClr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726680" y="1133856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lang="en-US" sz="900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CART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46320" y="143560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Product quantity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846320" y="1801368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Choose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 product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to Cart 4 times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 to Cart page 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Verify product is displayed with quantity 4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28600" y="3035808"/>
            <a:ext cx="4206240" cy="1828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228600" y="3035808"/>
            <a:ext cx="54864" cy="182880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65760" y="31272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🖥️ TC-</a:t>
            </a:r>
            <a:r>
              <a:rPr b="1" lang="en-US" sz="10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CART</a:t>
            </a:r>
            <a:r>
              <a:rPr b="1" i="0" lang="en-US" sz="1000" u="none" cap="none" strike="noStrik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-003</a:t>
            </a:r>
            <a:endParaRPr b="0" i="0" sz="1000" u="none" cap="none" strike="noStrike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246120" y="3145536"/>
            <a:ext cx="1051560" cy="237744"/>
          </a:xfrm>
          <a:prstGeom prst="rect">
            <a:avLst/>
          </a:prstGeom>
          <a:solidFill>
            <a:srgbClr val="BC8CFF">
              <a:alpha val="18039"/>
            </a:srgbClr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3246120" y="3145536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1" lang="en-US" sz="9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ITEM REMOVAL</a:t>
            </a:r>
            <a:endParaRPr b="1" sz="90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65760" y="344728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Remove Product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5760" y="3813048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any  product to Cart → Go to Cart page  →  Click X button for a particular product → Verify product is removed from cart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709160" y="3035808"/>
            <a:ext cx="4206240" cy="1828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4709160" y="3035808"/>
            <a:ext cx="54864" cy="1828800"/>
          </a:xfrm>
          <a:prstGeom prst="rect">
            <a:avLst/>
          </a:prstGeom>
          <a:solidFill>
            <a:srgbClr val="FFA657"/>
          </a:solidFill>
          <a:ln cap="flat" cmpd="sng" w="1270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4846320" y="31272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📎 TC-CHK-004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726680" y="3145536"/>
            <a:ext cx="1051560" cy="237744"/>
          </a:xfrm>
          <a:prstGeom prst="rect">
            <a:avLst/>
          </a:prstGeom>
          <a:solidFill>
            <a:srgbClr val="FFA657">
              <a:alpha val="18039"/>
            </a:srgbClr>
          </a:solidFill>
          <a:ln cap="flat" cmpd="sng" w="1270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7726680" y="3145536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900"/>
              <a:buFont typeface="Courier New"/>
              <a:buNone/>
            </a:pPr>
            <a:r>
              <a:rPr b="1" lang="en-US" sz="900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846320" y="344728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Search Item and Verify Cart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846320" y="3813048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Product name “Top”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some products to Cart 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Go to Cart page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Verify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they are in Cart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Make Login → Go to Cart page again → Verify they are still in Cart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934448" y="519273"/>
            <a:ext cx="327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6B26B"/>
                </a:solidFill>
                <a:latin typeface="Courier New"/>
                <a:ea typeface="Courier New"/>
                <a:cs typeface="Courier New"/>
                <a:sym typeface="Courier New"/>
              </a:rPr>
              <a:t>MODULE </a:t>
            </a:r>
            <a:r>
              <a:rPr b="1" lang="en-US" sz="1000">
                <a:solidFill>
                  <a:srgbClr val="F6B26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i="0" lang="en-US" sz="1000" u="none" cap="none" strike="noStrike">
                <a:solidFill>
                  <a:srgbClr val="F6B26B"/>
                </a:solidFill>
                <a:latin typeface="Courier New"/>
                <a:ea typeface="Courier New"/>
                <a:cs typeface="Courier New"/>
                <a:sym typeface="Courier New"/>
              </a:rPr>
              <a:t>  ·  </a:t>
            </a:r>
            <a:r>
              <a:rPr b="1" lang="en-US" sz="1000">
                <a:solidFill>
                  <a:srgbClr val="F6B26B"/>
                </a:solidFill>
                <a:latin typeface="Courier New"/>
                <a:ea typeface="Courier New"/>
                <a:cs typeface="Courier New"/>
                <a:sym typeface="Courier New"/>
              </a:rPr>
              <a:t>HAMZA</a:t>
            </a:r>
            <a:endParaRPr b="0" i="0" sz="1000" u="none" cap="none" strike="noStrike">
              <a:solidFill>
                <a:srgbClr val="F6B2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3" name="Google Shape;293;p9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9"/>
          <p:cNvCxnSpPr/>
          <p:nvPr/>
        </p:nvCxnSpPr>
        <p:spPr>
          <a:xfrm>
            <a:off x="0" y="914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9"/>
          <p:cNvCxnSpPr/>
          <p:nvPr/>
        </p:nvCxnSpPr>
        <p:spPr>
          <a:xfrm>
            <a:off x="0" y="1828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9"/>
          <p:cNvCxnSpPr/>
          <p:nvPr/>
        </p:nvCxnSpPr>
        <p:spPr>
          <a:xfrm>
            <a:off x="0" y="2743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9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9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9"/>
          <p:cNvCxnSpPr/>
          <p:nvPr/>
        </p:nvCxnSpPr>
        <p:spPr>
          <a:xfrm>
            <a:off x="0" y="5486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9"/>
          <p:cNvCxnSpPr/>
          <p:nvPr/>
        </p:nvCxnSpPr>
        <p:spPr>
          <a:xfrm>
            <a:off x="0" y="6400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9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9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9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9"/>
          <p:cNvCxnSpPr/>
          <p:nvPr/>
        </p:nvCxnSpPr>
        <p:spPr>
          <a:xfrm>
            <a:off x="0" y="10058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9"/>
          <p:cNvCxnSpPr/>
          <p:nvPr/>
        </p:nvCxnSpPr>
        <p:spPr>
          <a:xfrm>
            <a:off x="0" y="11887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9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9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9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9"/>
          <p:cNvCxnSpPr/>
          <p:nvPr/>
        </p:nvCxnSpPr>
        <p:spPr>
          <a:xfrm>
            <a:off x="0" y="15544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9"/>
          <p:cNvCxnSpPr/>
          <p:nvPr/>
        </p:nvCxnSpPr>
        <p:spPr>
          <a:xfrm>
            <a:off x="0" y="17373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9"/>
          <p:cNvCxnSpPr/>
          <p:nvPr/>
        </p:nvCxnSpPr>
        <p:spPr>
          <a:xfrm>
            <a:off x="0" y="19202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9"/>
          <p:cNvCxnSpPr/>
          <p:nvPr/>
        </p:nvCxnSpPr>
        <p:spPr>
          <a:xfrm>
            <a:off x="0" y="20116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9"/>
          <p:cNvCxnSpPr/>
          <p:nvPr/>
        </p:nvCxnSpPr>
        <p:spPr>
          <a:xfrm>
            <a:off x="0" y="21031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9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9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9"/>
          <p:cNvCxnSpPr/>
          <p:nvPr/>
        </p:nvCxnSpPr>
        <p:spPr>
          <a:xfrm>
            <a:off x="0" y="23774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9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0" y="26517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9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9"/>
          <p:cNvCxnSpPr/>
          <p:nvPr/>
        </p:nvCxnSpPr>
        <p:spPr>
          <a:xfrm>
            <a:off x="0" y="28346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9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9"/>
          <p:cNvCxnSpPr/>
          <p:nvPr/>
        </p:nvCxnSpPr>
        <p:spPr>
          <a:xfrm>
            <a:off x="0" y="30175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9"/>
          <p:cNvCxnSpPr/>
          <p:nvPr/>
        </p:nvCxnSpPr>
        <p:spPr>
          <a:xfrm>
            <a:off x="0" y="31089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9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9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9"/>
          <p:cNvCxnSpPr/>
          <p:nvPr/>
        </p:nvCxnSpPr>
        <p:spPr>
          <a:xfrm>
            <a:off x="0" y="33832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9"/>
          <p:cNvCxnSpPr/>
          <p:nvPr/>
        </p:nvCxnSpPr>
        <p:spPr>
          <a:xfrm>
            <a:off x="0" y="34747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9"/>
          <p:cNvCxnSpPr/>
          <p:nvPr/>
        </p:nvCxnSpPr>
        <p:spPr>
          <a:xfrm>
            <a:off x="0" y="35661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9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9"/>
          <p:cNvCxnSpPr/>
          <p:nvPr/>
        </p:nvCxnSpPr>
        <p:spPr>
          <a:xfrm>
            <a:off x="0" y="37490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9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9"/>
          <p:cNvCxnSpPr/>
          <p:nvPr/>
        </p:nvCxnSpPr>
        <p:spPr>
          <a:xfrm>
            <a:off x="0" y="39319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9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9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9"/>
          <p:cNvCxnSpPr/>
          <p:nvPr/>
        </p:nvCxnSpPr>
        <p:spPr>
          <a:xfrm>
            <a:off x="0" y="42062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9"/>
          <p:cNvCxnSpPr/>
          <p:nvPr/>
        </p:nvCxnSpPr>
        <p:spPr>
          <a:xfrm>
            <a:off x="0" y="42976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9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9"/>
          <p:cNvCxnSpPr/>
          <p:nvPr/>
        </p:nvCxnSpPr>
        <p:spPr>
          <a:xfrm>
            <a:off x="0" y="44805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9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9"/>
          <p:cNvCxnSpPr/>
          <p:nvPr/>
        </p:nvCxnSpPr>
        <p:spPr>
          <a:xfrm>
            <a:off x="0" y="46634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9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9"/>
          <p:cNvCxnSpPr/>
          <p:nvPr/>
        </p:nvCxnSpPr>
        <p:spPr>
          <a:xfrm>
            <a:off x="0" y="484632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9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9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F0F0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9"/>
          <p:cNvSpPr/>
          <p:nvPr/>
        </p:nvSpPr>
        <p:spPr>
          <a:xfrm>
            <a:off x="365760" y="914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06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1051560" y="91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TEST RESULTS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274320" y="502920"/>
            <a:ext cx="196596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274320" y="5486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4200"/>
              <a:buFont typeface="Courier New"/>
              <a:buNone/>
            </a:pPr>
            <a:r>
              <a:rPr b="1" lang="en-US" sz="4200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274320" y="117043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TOTAL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2450592" y="502920"/>
            <a:ext cx="196596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2450592" y="5486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4200"/>
              <a:buFont typeface="Courier New"/>
              <a:buNone/>
            </a:pPr>
            <a:r>
              <a:rPr b="1" i="0" lang="en-US" sz="42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2450592" y="117043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MODULES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626864" y="502920"/>
            <a:ext cx="196596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4626864" y="5486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4200"/>
              <a:buFont typeface="Courier New"/>
              <a:buNone/>
            </a:pPr>
            <a:r>
              <a:rPr b="1" i="0" lang="en-US" sz="4200" u="none" cap="none" strike="noStrike">
                <a:solidFill>
                  <a:srgbClr val="E3B341"/>
                </a:solidFill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626864" y="117043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ALL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803136" y="502920"/>
            <a:ext cx="196596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6803136" y="5486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4200"/>
              <a:buFont typeface="Courier New"/>
              <a:buNone/>
            </a:pPr>
            <a:r>
              <a:rPr b="1" i="0" lang="en-US" sz="42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POM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6803136" y="117043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872560" y="176028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TEST TYPE MIX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8945" y="2079780"/>
            <a:ext cx="3566100" cy="28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9"/>
          <p:cNvSpPr/>
          <p:nvPr/>
        </p:nvSpPr>
        <p:spPr>
          <a:xfrm>
            <a:off x="6400800" y="731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OWNER: </a:t>
            </a:r>
            <a:r>
              <a:rPr lang="en-US" sz="11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Hamza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365760" y="91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08 / RISKS &amp; MITIGATIONS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74320" y="658368"/>
            <a:ext cx="8595360" cy="777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274320" y="658368"/>
            <a:ext cx="914400" cy="777240"/>
          </a:xfrm>
          <a:prstGeom prst="rect">
            <a:avLst/>
          </a:prstGeom>
          <a:solidFill>
            <a:srgbClr val="E3B341">
              <a:alpha val="14901"/>
            </a:srgbClr>
          </a:solidFill>
          <a:ln cap="flat" cmpd="sng" w="12700">
            <a:solidFill>
              <a:srgbClr val="E3B341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274320" y="65836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74320" y="11612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E3B341"/>
                </a:solidFill>
                <a:latin typeface="Courier New"/>
                <a:ea typeface="Courier New"/>
                <a:cs typeface="Courier New"/>
                <a:sym typeface="Courier New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325880" y="73152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Ad / Popup Interference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1325880" y="10607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MITIGATION: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423160" y="1060704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Popup utility methods + explicit element waits + try-catch wrapping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274320" y="1536192"/>
            <a:ext cx="8595360" cy="777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274320" y="1536192"/>
            <a:ext cx="914400" cy="777240"/>
          </a:xfrm>
          <a:prstGeom prst="rect">
            <a:avLst/>
          </a:prstGeom>
          <a:solidFill>
            <a:srgbClr val="39D353">
              <a:alpha val="14901"/>
            </a:srgbClr>
          </a:solidFill>
          <a:ln cap="flat" cmpd="sng" w="12700">
            <a:solidFill>
              <a:srgbClr val="39D353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274320" y="1536192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274320" y="20391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1325880" y="1609344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Chrome Version Drift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1325880" y="193852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MITIGATION: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2423160" y="1938528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Pin WebDriverManager to v148; update map before each sprint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274320" y="2414016"/>
            <a:ext cx="8595360" cy="777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274320" y="2414016"/>
            <a:ext cx="914400" cy="777240"/>
          </a:xfrm>
          <a:prstGeom prst="rect">
            <a:avLst/>
          </a:prstGeom>
          <a:solidFill>
            <a:srgbClr val="E3B341">
              <a:alpha val="14901"/>
            </a:srgbClr>
          </a:solidFill>
          <a:ln cap="flat" cmpd="sng" w="12700">
            <a:solidFill>
              <a:srgbClr val="E3B341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274320" y="241401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🎞️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274320" y="29169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E3B341"/>
                </a:solidFill>
                <a:latin typeface="Courier New"/>
                <a:ea typeface="Courier New"/>
                <a:cs typeface="Courier New"/>
                <a:sym typeface="Courier New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1325880" y="2487168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Dynamic UI Animations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1325880" y="28163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MITIGATION: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2423160" y="2816352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Fluent waits + explicit visibility conditions before interactions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274320" y="3291840"/>
            <a:ext cx="8595360" cy="777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274320" y="3291840"/>
            <a:ext cx="914400" cy="777240"/>
          </a:xfrm>
          <a:prstGeom prst="rect">
            <a:avLst/>
          </a:prstGeom>
          <a:solidFill>
            <a:srgbClr val="FF7B72">
              <a:alpha val="14901"/>
            </a:srgbClr>
          </a:solidFill>
          <a:ln cap="flat" cmpd="sng" w="12700">
            <a:solidFill>
              <a:srgbClr val="FF7B72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274320" y="32918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27432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1325880" y="336499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Shared Test Accounts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1325880" y="36941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MITIGATION: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2423160" y="3694176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Module-isolated test data; account teardown after each test run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74320" y="4169664"/>
            <a:ext cx="8595360" cy="777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274320" y="4169664"/>
            <a:ext cx="914400" cy="777240"/>
          </a:xfrm>
          <a:prstGeom prst="rect">
            <a:avLst/>
          </a:prstGeom>
          <a:solidFill>
            <a:srgbClr val="39D353">
              <a:alpha val="14901"/>
            </a:srgbClr>
          </a:solidFill>
          <a:ln cap="flat" cmpd="sng" w="12700">
            <a:solidFill>
              <a:srgbClr val="39D353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274320" y="416966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274320" y="46725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1325880" y="4242816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Platform Downtime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1325880" y="45720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MITIGATION: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423160" y="4572000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3-retry logic + daily health-check script pre-execution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400800" y="731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OWNER: </a:t>
            </a:r>
            <a:r>
              <a:rPr lang="en-US" sz="11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Hamza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365760" y="91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07 / TECH STACK &amp;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365760" y="621792"/>
            <a:ext cx="8412480" cy="43159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457200" y="713232"/>
            <a:ext cx="118872" cy="118872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658368" y="713232"/>
            <a:ext cx="118872" cy="118872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859536" y="713232"/>
            <a:ext cx="118872" cy="118872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environment.config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365760" y="1024128"/>
            <a:ext cx="8412480" cy="576072"/>
          </a:xfrm>
          <a:prstGeom prst="rect">
            <a:avLst/>
          </a:prstGeom>
          <a:solidFill>
            <a:srgbClr val="0F1420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502920" y="1024128"/>
            <a:ext cx="2743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04672" y="1024128"/>
            <a:ext cx="2286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selenium-webdriver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3127248" y="1179576"/>
            <a:ext cx="822960" cy="256032"/>
          </a:xfrm>
          <a:prstGeom prst="rect">
            <a:avLst/>
          </a:prstGeom>
          <a:solidFill>
            <a:srgbClr val="39D353">
              <a:alpha val="14901"/>
            </a:srgbClr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3127248" y="11795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v4.x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4069080" y="1024128"/>
            <a:ext cx="4572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Browser automation engine — drives Chrome interactions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65760" y="1636776"/>
            <a:ext cx="8412480" cy="5760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02920" y="1636776"/>
            <a:ext cx="2743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804672" y="1636776"/>
            <a:ext cx="2286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3127248" y="1792224"/>
            <a:ext cx="822960" cy="256032"/>
          </a:xfrm>
          <a:prstGeom prst="rect">
            <a:avLst/>
          </a:prstGeom>
          <a:solidFill>
            <a:srgbClr val="FFA657">
              <a:alpha val="14901"/>
            </a:srgbClr>
          </a:solidFill>
          <a:ln cap="flat" cmpd="sng" w="1270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3127248" y="179222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JDK 11+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069080" y="1636776"/>
            <a:ext cx="4572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Primary programming language for all test scripts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365760" y="2249424"/>
            <a:ext cx="8412480" cy="576072"/>
          </a:xfrm>
          <a:prstGeom prst="rect">
            <a:avLst/>
          </a:prstGeom>
          <a:solidFill>
            <a:srgbClr val="0F1420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502920" y="2249424"/>
            <a:ext cx="2743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3B34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804672" y="2249424"/>
            <a:ext cx="2286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E3B341"/>
                </a:solidFill>
                <a:latin typeface="Courier New"/>
                <a:ea typeface="Courier New"/>
                <a:cs typeface="Courier New"/>
                <a:sym typeface="Courier New"/>
              </a:rPr>
              <a:t>testng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3127248" y="2404872"/>
            <a:ext cx="822960" cy="256032"/>
          </a:xfrm>
          <a:prstGeom prst="rect">
            <a:avLst/>
          </a:prstGeom>
          <a:solidFill>
            <a:srgbClr val="E3B341">
              <a:alpha val="14901"/>
            </a:srgbClr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3127248" y="240487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3B341"/>
                </a:solidFill>
                <a:latin typeface="Courier New"/>
                <a:ea typeface="Courier New"/>
                <a:cs typeface="Courier New"/>
                <a:sym typeface="Courier New"/>
              </a:rPr>
              <a:t>v7.x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4069080" y="2249424"/>
            <a:ext cx="4572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Test framework — annotations, grouping, parallel execution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365760" y="2862072"/>
            <a:ext cx="8412480" cy="5760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502920" y="2862072"/>
            <a:ext cx="2743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804672" y="2862072"/>
            <a:ext cx="2286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maven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3127248" y="3017520"/>
            <a:ext cx="822960" cy="256032"/>
          </a:xfrm>
          <a:prstGeom prst="rect">
            <a:avLst/>
          </a:prstGeom>
          <a:solidFill>
            <a:srgbClr val="FF7B72">
              <a:alpha val="14901"/>
            </a:srgbClr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3127248" y="301752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v3.x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4069080" y="2862072"/>
            <a:ext cx="4572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Build tool &amp; dependency manager — pom.xml config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365760" y="3474720"/>
            <a:ext cx="8412480" cy="576072"/>
          </a:xfrm>
          <a:prstGeom prst="rect">
            <a:avLst/>
          </a:prstGeom>
          <a:solidFill>
            <a:srgbClr val="0F1420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502920" y="3474720"/>
            <a:ext cx="2743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804672" y="3474720"/>
            <a:ext cx="2286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chrome-driver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127248" y="3630168"/>
            <a:ext cx="822960" cy="256032"/>
          </a:xfrm>
          <a:prstGeom prst="rect">
            <a:avLst/>
          </a:prstGeom>
          <a:solidFill>
            <a:srgbClr val="58A6FF">
              <a:alpha val="14901"/>
            </a:srgbClr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3127248" y="36301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v148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4069080" y="3474720"/>
            <a:ext cx="4572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WebDriver binary synced with Chrome 148 (Windows 10)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65760" y="4087368"/>
            <a:ext cx="8412480" cy="5760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126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502920" y="4087368"/>
            <a:ext cx="2743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804672" y="4087368"/>
            <a:ext cx="2286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page-object-model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127248" y="4242816"/>
            <a:ext cx="822960" cy="256032"/>
          </a:xfrm>
          <a:prstGeom prst="rect">
            <a:avLst/>
          </a:prstGeom>
          <a:solidFill>
            <a:srgbClr val="BC8CFF">
              <a:alpha val="14901"/>
            </a:srgbClr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3127248" y="424281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C8CFF"/>
                </a:solidFill>
                <a:latin typeface="Courier New"/>
                <a:ea typeface="Courier New"/>
                <a:cs typeface="Courier New"/>
                <a:sym typeface="Courier New"/>
              </a:rPr>
              <a:t>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4069080" y="4087368"/>
            <a:ext cx="4572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Separation of locators &amp; actions from test logic (POM)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400800" y="731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OWNER: </a:t>
            </a:r>
            <a:r>
              <a:rPr lang="en-US" sz="11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Mohammad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1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2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2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2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12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12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12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12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2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12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12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12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12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12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12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12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12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12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12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12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12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12"/>
          <p:cNvCxnSpPr/>
          <p:nvPr/>
        </p:nvCxnSpPr>
        <p:spPr>
          <a:xfrm>
            <a:off x="0" y="47548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12"/>
          <p:cNvCxnSpPr/>
          <p:nvPr/>
        </p:nvCxnSpPr>
        <p:spPr>
          <a:xfrm>
            <a:off x="0" y="950976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12"/>
          <p:cNvCxnSpPr/>
          <p:nvPr/>
        </p:nvCxnSpPr>
        <p:spPr>
          <a:xfrm>
            <a:off x="0" y="142646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12"/>
          <p:cNvCxnSpPr/>
          <p:nvPr/>
        </p:nvCxnSpPr>
        <p:spPr>
          <a:xfrm>
            <a:off x="0" y="1901952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12"/>
          <p:cNvCxnSpPr/>
          <p:nvPr/>
        </p:nvCxnSpPr>
        <p:spPr>
          <a:xfrm>
            <a:off x="0" y="237744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12"/>
          <p:cNvCxnSpPr/>
          <p:nvPr/>
        </p:nvCxnSpPr>
        <p:spPr>
          <a:xfrm>
            <a:off x="0" y="285292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12"/>
          <p:cNvCxnSpPr/>
          <p:nvPr/>
        </p:nvCxnSpPr>
        <p:spPr>
          <a:xfrm>
            <a:off x="0" y="3328416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12"/>
          <p:cNvCxnSpPr/>
          <p:nvPr/>
        </p:nvCxnSpPr>
        <p:spPr>
          <a:xfrm>
            <a:off x="0" y="380390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12"/>
          <p:cNvCxnSpPr/>
          <p:nvPr/>
        </p:nvCxnSpPr>
        <p:spPr>
          <a:xfrm>
            <a:off x="0" y="4279392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2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12"/>
          <p:cNvCxnSpPr/>
          <p:nvPr/>
        </p:nvCxnSpPr>
        <p:spPr>
          <a:xfrm>
            <a:off x="0" y="5230368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12"/>
          <p:cNvSpPr/>
          <p:nvPr/>
        </p:nvSpPr>
        <p:spPr>
          <a:xfrm>
            <a:off x="2286000" y="-914400"/>
            <a:ext cx="4572000" cy="4572000"/>
          </a:xfrm>
          <a:prstGeom prst="ellipse">
            <a:avLst/>
          </a:prstGeom>
          <a:solidFill>
            <a:srgbClr val="39D353">
              <a:alpha val="5882"/>
            </a:srgbClr>
          </a:solidFill>
          <a:ln cap="flat" cmpd="sng" w="12700">
            <a:solidFill>
              <a:srgbClr val="39D353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1371600" y="34747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200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r>
              <a:rPr b="0" i="0" lang="en-US" sz="12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200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r>
              <a:rPr b="0" i="0" lang="en-US" sz="12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] Test cases executed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1371600" y="69494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[4/4]   Modules covered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1371600" y="104241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EE787"/>
                </a:solidFill>
                <a:latin typeface="Courier New"/>
                <a:ea typeface="Courier New"/>
                <a:cs typeface="Courier New"/>
                <a:sym typeface="Courier New"/>
              </a:rPr>
              <a:t>[✓]     All test cases — </a:t>
            </a:r>
            <a:r>
              <a:rPr lang="en-US" sz="1200">
                <a:solidFill>
                  <a:srgbClr val="7EE787"/>
                </a:solidFill>
                <a:latin typeface="Courier New"/>
                <a:ea typeface="Courier New"/>
                <a:cs typeface="Courier New"/>
                <a:sym typeface="Courier New"/>
              </a:rPr>
              <a:t>Mix </a:t>
            </a:r>
            <a:r>
              <a:rPr lang="en-US" sz="1200">
                <a:solidFill>
                  <a:srgbClr val="7EE787"/>
                </a:solidFill>
                <a:latin typeface="Courier New"/>
                <a:ea typeface="Courier New"/>
                <a:cs typeface="Courier New"/>
                <a:sym typeface="Courier New"/>
              </a:rPr>
              <a:t>Priorities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1371600" y="138988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EE787"/>
                </a:solidFill>
                <a:latin typeface="Courier New"/>
                <a:ea typeface="Courier New"/>
                <a:cs typeface="Courier New"/>
                <a:sym typeface="Courier New"/>
              </a:rPr>
              <a:t>[✓]     Page Object Model architecture applied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1371600" y="1737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1371600" y="208483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58A6FF"/>
                </a:solidFill>
                <a:latin typeface="Courier New"/>
                <a:ea typeface="Courier New"/>
                <a:cs typeface="Courier New"/>
                <a:sym typeface="Courier New"/>
              </a:rPr>
              <a:t>All scenarios validated successfully.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274320" y="2450592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8800"/>
              <a:buFont typeface="Courier New"/>
              <a:buNone/>
            </a:pPr>
            <a:r>
              <a:rPr b="1" i="0" lang="en-US" sz="8800" u="none" cap="none" strike="noStrike">
                <a:solidFill>
                  <a:srgbClr val="F0F6FC"/>
                </a:solidFill>
                <a:latin typeface="Courier New"/>
                <a:ea typeface="Courier New"/>
                <a:cs typeface="Courier New"/>
                <a:sym typeface="Courier New"/>
              </a:rPr>
              <a:t>THANK YOU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1371600" y="3858768"/>
            <a:ext cx="6400800" cy="5029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371600" y="3858768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AHMAD  ·  BASIL  ·  HAMZA  ·  MOHAMMED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484F58"/>
                </a:solidFill>
                <a:latin typeface="Courier New"/>
                <a:ea typeface="Courier New"/>
                <a:cs typeface="Courier New"/>
                <a:sym typeface="Courier New"/>
              </a:rPr>
              <a:t>QA AUTOMATION BOOTCAMP  ·  automationexercise.com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6400800" y="731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OWNER: </a:t>
            </a:r>
            <a:r>
              <a:rPr lang="en-US" sz="11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Mohammad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